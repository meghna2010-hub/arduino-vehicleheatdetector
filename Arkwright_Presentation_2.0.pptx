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7"/>
  </p:notesMasterIdLst>
  <p:sldIdLst>
    <p:sldId id="262" r:id="rId2"/>
    <p:sldId id="264" r:id="rId3"/>
    <p:sldId id="266" r:id="rId4"/>
    <p:sldId id="269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541FB-657F-4516-BD99-351D14980F79}" v="570" dt="2026-03-15T18:47:49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45" autoAdjust="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482E2-16A1-4B25-8B02-0D960090279E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16E2E-03E4-4D06-9B02-181D7FF9EF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26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16E2E-03E4-4D06-9B02-181D7FF9EFA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945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D26E-8D03-9EB6-9A50-10814982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836E7-E8A9-C0E9-488C-132CAC444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F42CB-5171-8CF6-6FE5-EC3E68C8C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77B61-8646-A482-D95E-E4B759D02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16E2E-03E4-4D06-9B02-181D7FF9EFA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697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B626-E258-1763-400A-70015EEF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335C6-D0BA-479E-BE76-7F5BB3830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B4BB8-6CC0-33E5-8B09-915C2D1D1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76264-B8BA-194E-7078-1B96C6E22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16E2E-03E4-4D06-9B02-181D7FF9EFA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57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1EA6-036E-6164-50F6-A9BAB5DC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BB496-7029-B283-DBB3-59A345454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35FBF-6573-C1DC-3BFC-9D7FC64E6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7D69-6168-E8D6-71B3-3205F81C4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16E2E-03E4-4D06-9B02-181D7FF9EFA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0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528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7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97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83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0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63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64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60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81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91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56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41623-C9B5-418E-B763-697B5D96C4F9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7C376-7CFD-468D-91A4-6CDE8D6D27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01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286F9-3B4A-428F-00D3-B85EE6F3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1EB8CB1-306C-79A8-F7ED-83A77786A3EA}"/>
              </a:ext>
            </a:extLst>
          </p:cNvPr>
          <p:cNvSpPr txBox="1"/>
          <p:nvPr/>
        </p:nvSpPr>
        <p:spPr>
          <a:xfrm>
            <a:off x="6369964" y="1423975"/>
            <a:ext cx="53729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AD44D4-8565-AE1B-691A-8EE6B4834080}"/>
              </a:ext>
            </a:extLst>
          </p:cNvPr>
          <p:cNvGrpSpPr/>
          <p:nvPr/>
        </p:nvGrpSpPr>
        <p:grpSpPr>
          <a:xfrm>
            <a:off x="3960402" y="43540"/>
            <a:ext cx="3412215" cy="745901"/>
            <a:chOff x="4916886" y="1375233"/>
            <a:chExt cx="3412215" cy="74086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DB57973-1C6C-12C1-6A10-AE8CEFFC5237}"/>
                </a:ext>
              </a:extLst>
            </p:cNvPr>
            <p:cNvSpPr txBox="1"/>
            <p:nvPr/>
          </p:nvSpPr>
          <p:spPr>
            <a:xfrm>
              <a:off x="5643057" y="1428209"/>
              <a:ext cx="2465356" cy="418128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Smart</a:t>
              </a:r>
              <a:r>
                <a:rPr lang="en-GB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</a:t>
              </a: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GB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Guardian</a:t>
              </a:r>
              <a:endParaRPr lang="en-GB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03E75-54C3-375B-A37C-2836156D243F}"/>
                </a:ext>
              </a:extLst>
            </p:cNvPr>
            <p:cNvSpPr txBox="1"/>
            <p:nvPr/>
          </p:nvSpPr>
          <p:spPr>
            <a:xfrm>
              <a:off x="6131864" y="1768508"/>
              <a:ext cx="2197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Protect Lives with Engineering</a:t>
              </a:r>
            </a:p>
          </p:txBody>
        </p:sp>
        <p:pic>
          <p:nvPicPr>
            <p:cNvPr id="9" name="Picture 8" descr="A logo of a shield&#10;&#10;AI-generated content may be incorrect.">
              <a:extLst>
                <a:ext uri="{FF2B5EF4-FFF2-40B4-BE49-F238E27FC236}">
                  <a16:creationId xmlns:a16="http://schemas.microsoft.com/office/drawing/2014/main" id="{874272A2-B6B8-D256-0D42-999CE6416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16886" y="1375233"/>
              <a:ext cx="812565" cy="740868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833793-09B3-BCF8-D723-283445411893}"/>
              </a:ext>
            </a:extLst>
          </p:cNvPr>
          <p:cNvGrpSpPr/>
          <p:nvPr/>
        </p:nvGrpSpPr>
        <p:grpSpPr>
          <a:xfrm>
            <a:off x="180656" y="3772715"/>
            <a:ext cx="2971211" cy="324342"/>
            <a:chOff x="-6089541" y="1874399"/>
            <a:chExt cx="2971211" cy="35677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512B5B0-A01B-7FA5-95B8-5F3063859FB2}"/>
                </a:ext>
              </a:extLst>
            </p:cNvPr>
            <p:cNvSpPr/>
            <p:nvPr/>
          </p:nvSpPr>
          <p:spPr>
            <a:xfrm>
              <a:off x="-5713763" y="1874399"/>
              <a:ext cx="2595433" cy="3426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Working Principle</a:t>
              </a:r>
            </a:p>
          </p:txBody>
        </p:sp>
        <p:pic>
          <p:nvPicPr>
            <p:cNvPr id="25" name="Picture 24" descr="A logo of a shield&#10;&#10;AI-generated content may be incorrect.">
              <a:extLst>
                <a:ext uri="{FF2B5EF4-FFF2-40B4-BE49-F238E27FC236}">
                  <a16:creationId xmlns:a16="http://schemas.microsoft.com/office/drawing/2014/main" id="{8728335C-77E7-BAEF-D69D-6B7A3F6A3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6089541" y="1888554"/>
              <a:ext cx="375778" cy="342621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B30B49-73DC-AFF1-3C85-8E048E137EEA}"/>
              </a:ext>
            </a:extLst>
          </p:cNvPr>
          <p:cNvGrpSpPr/>
          <p:nvPr/>
        </p:nvGrpSpPr>
        <p:grpSpPr>
          <a:xfrm>
            <a:off x="277656" y="4177146"/>
            <a:ext cx="4273562" cy="2560676"/>
            <a:chOff x="1228040" y="0"/>
            <a:chExt cx="6075627" cy="3493932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6C0C139-DF07-5746-4F4D-0F03F4095BFE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272099" y="1593412"/>
              <a:ext cx="1702113" cy="1001302"/>
            </a:xfrm>
            <a:prstGeom prst="rect">
              <a:avLst/>
            </a:prstGeom>
          </p:spPr>
        </p:pic>
        <p:sp>
          <p:nvSpPr>
            <p:cNvPr id="28" name="Shape 327">
              <a:extLst>
                <a:ext uri="{FF2B5EF4-FFF2-40B4-BE49-F238E27FC236}">
                  <a16:creationId xmlns:a16="http://schemas.microsoft.com/office/drawing/2014/main" id="{77A8A8F2-E02D-17CF-E21D-CB9D7D0A85EF}"/>
                </a:ext>
              </a:extLst>
            </p:cNvPr>
            <p:cNvSpPr/>
            <p:nvPr/>
          </p:nvSpPr>
          <p:spPr>
            <a:xfrm>
              <a:off x="2288620" y="573165"/>
              <a:ext cx="3425684" cy="2920767"/>
            </a:xfrm>
            <a:custGeom>
              <a:avLst/>
              <a:gdLst/>
              <a:ahLst/>
              <a:cxnLst/>
              <a:rect l="0" t="0" r="0" b="0"/>
              <a:pathLst>
                <a:path w="3602567" h="3482937">
                  <a:moveTo>
                    <a:pt x="1834429" y="47"/>
                  </a:moveTo>
                  <a:cubicBezTo>
                    <a:pt x="2637747" y="0"/>
                    <a:pt x="3324967" y="577126"/>
                    <a:pt x="3463767" y="1368364"/>
                  </a:cubicBezTo>
                  <a:cubicBezTo>
                    <a:pt x="3602567" y="2159600"/>
                    <a:pt x="3152815" y="2936175"/>
                    <a:pt x="2397444" y="3209556"/>
                  </a:cubicBezTo>
                  <a:cubicBezTo>
                    <a:pt x="1642074" y="3482937"/>
                    <a:pt x="799487" y="3174079"/>
                    <a:pt x="399743" y="2477282"/>
                  </a:cubicBezTo>
                  <a:cubicBezTo>
                    <a:pt x="0" y="1780485"/>
                    <a:pt x="158679" y="897214"/>
                    <a:pt x="775957" y="383124"/>
                  </a:cubicBezTo>
                  <a:lnTo>
                    <a:pt x="922865" y="559519"/>
                  </a:lnTo>
                  <a:cubicBezTo>
                    <a:pt x="391253" y="1002264"/>
                    <a:pt x="254595" y="1762954"/>
                    <a:pt x="598863" y="2363050"/>
                  </a:cubicBezTo>
                  <a:cubicBezTo>
                    <a:pt x="943129" y="2963146"/>
                    <a:pt x="1668782" y="3229140"/>
                    <a:pt x="2319323" y="2993699"/>
                  </a:cubicBezTo>
                  <a:cubicBezTo>
                    <a:pt x="2969862" y="2758259"/>
                    <a:pt x="3357198" y="2089456"/>
                    <a:pt x="3237660" y="1408027"/>
                  </a:cubicBezTo>
                  <a:cubicBezTo>
                    <a:pt x="3118124" y="726598"/>
                    <a:pt x="2526276" y="229565"/>
                    <a:pt x="1834442" y="229605"/>
                  </a:cubicBezTo>
                  <a:lnTo>
                    <a:pt x="1834429" y="47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3E3D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Shape 328">
              <a:extLst>
                <a:ext uri="{FF2B5EF4-FFF2-40B4-BE49-F238E27FC236}">
                  <a16:creationId xmlns:a16="http://schemas.microsoft.com/office/drawing/2014/main" id="{26B29CC3-19D0-1022-24C3-2F2D96E67EC0}"/>
                </a:ext>
              </a:extLst>
            </p:cNvPr>
            <p:cNvSpPr/>
            <p:nvPr/>
          </p:nvSpPr>
          <p:spPr>
            <a:xfrm>
              <a:off x="2838688" y="311578"/>
              <a:ext cx="469480" cy="469480"/>
            </a:xfrm>
            <a:custGeom>
              <a:avLst/>
              <a:gdLst/>
              <a:ahLst/>
              <a:cxnLst/>
              <a:rect l="0" t="0" r="0" b="0"/>
              <a:pathLst>
                <a:path w="469480" h="469480">
                  <a:moveTo>
                    <a:pt x="0" y="0"/>
                  </a:moveTo>
                  <a:lnTo>
                    <a:pt x="469480" y="0"/>
                  </a:lnTo>
                  <a:lnTo>
                    <a:pt x="469480" y="469480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3E3D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Shape 3015">
              <a:extLst>
                <a:ext uri="{FF2B5EF4-FFF2-40B4-BE49-F238E27FC236}">
                  <a16:creationId xmlns:a16="http://schemas.microsoft.com/office/drawing/2014/main" id="{E61A2AEE-5DBD-1D2D-2496-7654B85A5922}"/>
                </a:ext>
              </a:extLst>
            </p:cNvPr>
            <p:cNvSpPr/>
            <p:nvPr/>
          </p:nvSpPr>
          <p:spPr>
            <a:xfrm>
              <a:off x="5252169" y="1993380"/>
              <a:ext cx="1754966" cy="1048301"/>
            </a:xfrm>
            <a:custGeom>
              <a:avLst/>
              <a:gdLst/>
              <a:ahLst/>
              <a:cxnLst/>
              <a:rect l="0" t="0" r="0" b="0"/>
              <a:pathLst>
                <a:path w="1702147" h="804505">
                  <a:moveTo>
                    <a:pt x="0" y="0"/>
                  </a:moveTo>
                  <a:lnTo>
                    <a:pt x="1702147" y="0"/>
                  </a:lnTo>
                  <a:lnTo>
                    <a:pt x="1702147" y="804505"/>
                  </a:lnTo>
                  <a:lnTo>
                    <a:pt x="0" y="804505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50000"/>
              </a:schemeClr>
            </a:solidFill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B786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02C9D85-A8AB-648A-5FED-E7AFFE87D562}"/>
                </a:ext>
              </a:extLst>
            </p:cNvPr>
            <p:cNvSpPr/>
            <p:nvPr/>
          </p:nvSpPr>
          <p:spPr>
            <a:xfrm>
              <a:off x="5311272" y="2185887"/>
              <a:ext cx="1627873" cy="80450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000" kern="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Contact</a:t>
              </a:r>
              <a:r>
                <a:rPr lang="en-GB" sz="1000" kern="100" spc="2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GB" sz="1000" kern="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owner</a:t>
              </a:r>
              <a:r>
                <a:rPr lang="en-GB" sz="1000" kern="100" spc="2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GB" sz="1000" kern="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to</a:t>
              </a:r>
              <a:r>
                <a:rPr lang="en-GB" sz="1000" kern="100" spc="2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GB" sz="1000" kern="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take action within 2 minutes</a:t>
              </a:r>
              <a:endParaRPr lang="en-GB" sz="11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Shape 332">
              <a:extLst>
                <a:ext uri="{FF2B5EF4-FFF2-40B4-BE49-F238E27FC236}">
                  <a16:creationId xmlns:a16="http://schemas.microsoft.com/office/drawing/2014/main" id="{633E62F3-83A4-C2BA-8832-D06E393A3B60}"/>
                </a:ext>
              </a:extLst>
            </p:cNvPr>
            <p:cNvSpPr/>
            <p:nvPr/>
          </p:nvSpPr>
          <p:spPr>
            <a:xfrm>
              <a:off x="5257741" y="1680529"/>
              <a:ext cx="1702148" cy="364116"/>
            </a:xfrm>
            <a:custGeom>
              <a:avLst/>
              <a:gdLst/>
              <a:ahLst/>
              <a:cxnLst/>
              <a:rect l="0" t="0" r="0" b="0"/>
              <a:pathLst>
                <a:path w="1702147" h="364116">
                  <a:moveTo>
                    <a:pt x="0" y="0"/>
                  </a:moveTo>
                  <a:lnTo>
                    <a:pt x="1520088" y="0"/>
                  </a:lnTo>
                  <a:cubicBezTo>
                    <a:pt x="1568374" y="0"/>
                    <a:pt x="1614680" y="19181"/>
                    <a:pt x="1648822" y="53323"/>
                  </a:cubicBezTo>
                  <a:cubicBezTo>
                    <a:pt x="1682966" y="87466"/>
                    <a:pt x="1702147" y="133773"/>
                    <a:pt x="1702147" y="182058"/>
                  </a:cubicBezTo>
                  <a:lnTo>
                    <a:pt x="1702147" y="364116"/>
                  </a:lnTo>
                  <a:lnTo>
                    <a:pt x="0" y="364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99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A0AF2CE-F0BF-5CDB-0A07-134F8540D746}"/>
                </a:ext>
              </a:extLst>
            </p:cNvPr>
            <p:cNvSpPr/>
            <p:nvPr/>
          </p:nvSpPr>
          <p:spPr>
            <a:xfrm>
              <a:off x="5252169" y="1749471"/>
              <a:ext cx="2051498" cy="3967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300" b="1" kern="100" dirty="0">
                  <a:latin typeface="Calibri" panose="020F0502020204030204" pitchFamily="34" charset="0"/>
                  <a:ea typeface="Calibri" panose="020F0502020204030204" pitchFamily="34" charset="0"/>
                </a:rPr>
                <a:t>Alert</a:t>
              </a:r>
              <a:r>
                <a:rPr lang="en-GB" sz="1300" b="1" kern="100" spc="30" dirty="0"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GB" sz="1300" b="1" kern="100" dirty="0">
                  <a:latin typeface="Calibri" panose="020F0502020204030204" pitchFamily="34" charset="0"/>
                  <a:ea typeface="Calibri" panose="020F0502020204030204" pitchFamily="34" charset="0"/>
                </a:rPr>
                <a:t>Owner</a:t>
              </a:r>
              <a:endParaRPr lang="en-GB" sz="1100" b="1" kern="100" dirty="0"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4" name="Shape 3037">
              <a:extLst>
                <a:ext uri="{FF2B5EF4-FFF2-40B4-BE49-F238E27FC236}">
                  <a16:creationId xmlns:a16="http://schemas.microsoft.com/office/drawing/2014/main" id="{23393037-1BFA-2E28-247A-740D1DE6147F}"/>
                </a:ext>
              </a:extLst>
            </p:cNvPr>
            <p:cNvSpPr/>
            <p:nvPr/>
          </p:nvSpPr>
          <p:spPr>
            <a:xfrm>
              <a:off x="3323010" y="313880"/>
              <a:ext cx="1721921" cy="948150"/>
            </a:xfrm>
            <a:custGeom>
              <a:avLst/>
              <a:gdLst/>
              <a:ahLst/>
              <a:cxnLst/>
              <a:rect l="0" t="0" r="0" b="0"/>
              <a:pathLst>
                <a:path w="1681895" h="794933">
                  <a:moveTo>
                    <a:pt x="0" y="0"/>
                  </a:moveTo>
                  <a:lnTo>
                    <a:pt x="1681895" y="0"/>
                  </a:lnTo>
                  <a:lnTo>
                    <a:pt x="1681895" y="794933"/>
                  </a:lnTo>
                  <a:lnTo>
                    <a:pt x="0" y="794933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B786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9261E6-5C00-5399-7BA1-2B005CD1B3E2}"/>
                </a:ext>
              </a:extLst>
            </p:cNvPr>
            <p:cNvSpPr/>
            <p:nvPr/>
          </p:nvSpPr>
          <p:spPr>
            <a:xfrm>
              <a:off x="3323009" y="432249"/>
              <a:ext cx="1753891" cy="85172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000" kern="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Monitor temperature and movement inside car.</a:t>
              </a:r>
              <a:endParaRPr lang="en-GB" sz="11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6" name="Shape 337">
              <a:extLst>
                <a:ext uri="{FF2B5EF4-FFF2-40B4-BE49-F238E27FC236}">
                  <a16:creationId xmlns:a16="http://schemas.microsoft.com/office/drawing/2014/main" id="{B645A9B5-AFF2-EAB1-6B6D-EEC87156655B}"/>
                </a:ext>
              </a:extLst>
            </p:cNvPr>
            <p:cNvSpPr/>
            <p:nvPr/>
          </p:nvSpPr>
          <p:spPr>
            <a:xfrm>
              <a:off x="3323011" y="0"/>
              <a:ext cx="1753892" cy="412744"/>
            </a:xfrm>
            <a:custGeom>
              <a:avLst/>
              <a:gdLst/>
              <a:ahLst/>
              <a:cxnLst/>
              <a:rect l="0" t="0" r="0" b="0"/>
              <a:pathLst>
                <a:path w="1681895" h="359784">
                  <a:moveTo>
                    <a:pt x="0" y="0"/>
                  </a:moveTo>
                  <a:lnTo>
                    <a:pt x="1502003" y="0"/>
                  </a:lnTo>
                  <a:cubicBezTo>
                    <a:pt x="1549714" y="0"/>
                    <a:pt x="1595470" y="18953"/>
                    <a:pt x="1629206" y="52689"/>
                  </a:cubicBezTo>
                  <a:cubicBezTo>
                    <a:pt x="1662943" y="86426"/>
                    <a:pt x="1681895" y="132182"/>
                    <a:pt x="1681895" y="179892"/>
                  </a:cubicBezTo>
                  <a:lnTo>
                    <a:pt x="1681895" y="359784"/>
                  </a:lnTo>
                  <a:lnTo>
                    <a:pt x="0" y="3597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99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461E7E2-C88A-8531-B05C-CDB60C427F6C}"/>
                </a:ext>
              </a:extLst>
            </p:cNvPr>
            <p:cNvSpPr/>
            <p:nvPr/>
          </p:nvSpPr>
          <p:spPr>
            <a:xfrm>
              <a:off x="3437310" y="19505"/>
              <a:ext cx="1753891" cy="25928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300" b="1" kern="100" dirty="0">
                  <a:latin typeface="Calibri" panose="020F0502020204030204" pitchFamily="34" charset="0"/>
                  <a:ea typeface="Calibri" panose="020F0502020204030204" pitchFamily="34" charset="0"/>
                </a:rPr>
                <a:t>Detect</a:t>
              </a:r>
              <a:r>
                <a:rPr lang="en-GB" sz="1300" b="1" kern="100" spc="3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GB" sz="1100" b="1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Shape 3053">
              <a:extLst>
                <a:ext uri="{FF2B5EF4-FFF2-40B4-BE49-F238E27FC236}">
                  <a16:creationId xmlns:a16="http://schemas.microsoft.com/office/drawing/2014/main" id="{E6EF461C-56BE-6BF9-1D1A-D349B8253568}"/>
                </a:ext>
              </a:extLst>
            </p:cNvPr>
            <p:cNvSpPr/>
            <p:nvPr/>
          </p:nvSpPr>
          <p:spPr>
            <a:xfrm>
              <a:off x="1228040" y="2105351"/>
              <a:ext cx="1800337" cy="1001302"/>
            </a:xfrm>
            <a:custGeom>
              <a:avLst/>
              <a:gdLst/>
              <a:ahLst/>
              <a:cxnLst/>
              <a:rect l="0" t="0" r="0" b="0"/>
              <a:pathLst>
                <a:path w="1800337" h="850914">
                  <a:moveTo>
                    <a:pt x="0" y="0"/>
                  </a:moveTo>
                  <a:lnTo>
                    <a:pt x="1800337" y="0"/>
                  </a:lnTo>
                  <a:lnTo>
                    <a:pt x="1800337" y="850914"/>
                  </a:lnTo>
                  <a:lnTo>
                    <a:pt x="0" y="850914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50000"/>
              </a:schemeClr>
            </a:solidFill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B786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A95AC78-803C-D94C-9E34-E43FB5010F33}"/>
                </a:ext>
              </a:extLst>
            </p:cNvPr>
            <p:cNvSpPr/>
            <p:nvPr/>
          </p:nvSpPr>
          <p:spPr>
            <a:xfrm>
              <a:off x="1228040" y="2217112"/>
              <a:ext cx="1891822" cy="93441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000" kern="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Alert</a:t>
              </a:r>
              <a:r>
                <a:rPr lang="en-GB" sz="1000" kern="100" spc="25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&amp; </a:t>
              </a:r>
              <a:r>
                <a:rPr lang="en-GB" sz="1000" kern="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Contact  Emergency services in the next 2 min</a:t>
              </a:r>
              <a:r>
                <a:rPr lang="en-GB" sz="1000" kern="100" spc="25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utes.</a:t>
              </a:r>
              <a:endParaRPr lang="en-GB" sz="10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Shape 343">
              <a:extLst>
                <a:ext uri="{FF2B5EF4-FFF2-40B4-BE49-F238E27FC236}">
                  <a16:creationId xmlns:a16="http://schemas.microsoft.com/office/drawing/2014/main" id="{CEFF8C5D-4B23-BABE-2B55-75A2F882E06A}"/>
                </a:ext>
              </a:extLst>
            </p:cNvPr>
            <p:cNvSpPr/>
            <p:nvPr/>
          </p:nvSpPr>
          <p:spPr>
            <a:xfrm>
              <a:off x="1228040" y="1720231"/>
              <a:ext cx="1800337" cy="385121"/>
            </a:xfrm>
            <a:custGeom>
              <a:avLst/>
              <a:gdLst/>
              <a:ahLst/>
              <a:cxnLst/>
              <a:rect l="0" t="0" r="0" b="0"/>
              <a:pathLst>
                <a:path w="1800337" h="385121">
                  <a:moveTo>
                    <a:pt x="0" y="0"/>
                  </a:moveTo>
                  <a:lnTo>
                    <a:pt x="1607777" y="0"/>
                  </a:lnTo>
                  <a:cubicBezTo>
                    <a:pt x="1658847" y="0"/>
                    <a:pt x="1707825" y="20288"/>
                    <a:pt x="1743937" y="56399"/>
                  </a:cubicBezTo>
                  <a:cubicBezTo>
                    <a:pt x="1780050" y="92511"/>
                    <a:pt x="1800337" y="141490"/>
                    <a:pt x="1800337" y="192560"/>
                  </a:cubicBezTo>
                  <a:lnTo>
                    <a:pt x="1800337" y="385121"/>
                  </a:lnTo>
                  <a:lnTo>
                    <a:pt x="0" y="385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99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4F93E3A-B24A-4EBA-C81C-E5ABDBE24F7A}"/>
                </a:ext>
              </a:extLst>
            </p:cNvPr>
            <p:cNvSpPr/>
            <p:nvPr/>
          </p:nvSpPr>
          <p:spPr>
            <a:xfrm>
              <a:off x="1342338" y="1689513"/>
              <a:ext cx="1347043" cy="30079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500" b="1" kern="100" dirty="0">
                  <a:latin typeface="Calibri" panose="020F0502020204030204" pitchFamily="34" charset="0"/>
                  <a:ea typeface="Calibri" panose="020F0502020204030204" pitchFamily="34" charset="0"/>
                </a:rPr>
                <a:t>Escalate</a:t>
              </a:r>
              <a:endParaRPr lang="en-GB" sz="1100" b="1" kern="100" dirty="0"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08D097E-B08C-DCEC-F450-A9C461DF81B5}"/>
              </a:ext>
            </a:extLst>
          </p:cNvPr>
          <p:cNvGrpSpPr/>
          <p:nvPr/>
        </p:nvGrpSpPr>
        <p:grpSpPr>
          <a:xfrm>
            <a:off x="129560" y="1227459"/>
            <a:ext cx="11358371" cy="5434043"/>
            <a:chOff x="168272" y="1237994"/>
            <a:chExt cx="11358371" cy="54340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940B88-5462-BF26-0AD2-CB6BD362A3C6}"/>
                </a:ext>
              </a:extLst>
            </p:cNvPr>
            <p:cNvGrpSpPr/>
            <p:nvPr/>
          </p:nvGrpSpPr>
          <p:grpSpPr>
            <a:xfrm>
              <a:off x="168272" y="1237994"/>
              <a:ext cx="11358371" cy="2258387"/>
              <a:chOff x="67818" y="557139"/>
              <a:chExt cx="2801182" cy="6288705"/>
            </a:xfrm>
          </p:grpSpPr>
          <p:sp>
            <p:nvSpPr>
              <p:cNvPr id="19" name="TextBox 10">
                <a:extLst>
                  <a:ext uri="{FF2B5EF4-FFF2-40B4-BE49-F238E27FC236}">
                    <a16:creationId xmlns:a16="http://schemas.microsoft.com/office/drawing/2014/main" id="{3166BEBB-BE36-D428-1C38-FD3729B7CDB8}"/>
                  </a:ext>
                </a:extLst>
              </p:cNvPr>
              <p:cNvSpPr txBox="1"/>
              <p:nvPr/>
            </p:nvSpPr>
            <p:spPr>
              <a:xfrm>
                <a:off x="70872" y="557139"/>
                <a:ext cx="2798128" cy="261395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per </a:t>
                </a:r>
                <a:r>
                  <a:rPr lang="en-US" sz="11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NHTSA</a:t>
                </a:r>
                <a:r>
                  <a:rPr lang="en-US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- 1000s of children have died due to high temperature in cars as the body temperature of kids raise up 3 to 5 times faster than adults.</a:t>
                </a:r>
              </a:p>
              <a:p>
                <a:r>
                  <a:rPr lang="en-US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per </a:t>
                </a:r>
                <a:r>
                  <a:rPr lang="en-US" sz="11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PETA</a:t>
                </a:r>
                <a:r>
                  <a:rPr lang="en-US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- Animals can sustain brain damage or die from heatstroke in just 15 minutes.</a:t>
                </a:r>
                <a:endPara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11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1100" dirty="0">
                  <a:latin typeface="Overpass Medium" pitchFamily="2" charset="0"/>
                </a:endParaRPr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2EEA4F6F-56AA-5331-8260-C91DFAFAE48B}"/>
                  </a:ext>
                </a:extLst>
              </p:cNvPr>
              <p:cNvSpPr txBox="1"/>
              <p:nvPr/>
            </p:nvSpPr>
            <p:spPr>
              <a:xfrm>
                <a:off x="67818" y="1875043"/>
                <a:ext cx="2054353" cy="4970801"/>
              </a:xfrm>
              <a:prstGeom prst="rect">
                <a:avLst/>
              </a:prstGeom>
              <a:solidFill>
                <a:schemeClr val="bg1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My idea is to build an intelligent solution that is easy to install, practical and affordable and prevents deaths due to heat-stroke in children and pets</a:t>
                </a:r>
              </a:p>
              <a:p>
                <a:endParaRPr lang="en-GB" sz="1100" b="1" u="sng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1100" b="1" u="sng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 design considerations:</a:t>
                </a:r>
              </a:p>
              <a:p>
                <a:endParaRPr lang="en-GB" sz="1100" b="1" u="sng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must detect both heat and motion accurately.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should send automatic alerts and escalate if needed.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should take measures to reduce casualties by lowering the temperature.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should operate from the vehicle’s battery with backup power.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should be affordable and easily installable in old and new vehicles.</a:t>
                </a:r>
              </a:p>
            </p:txBody>
          </p:sp>
        </p:grpSp>
        <p:pic>
          <p:nvPicPr>
            <p:cNvPr id="5" name="Picture 2" descr="Why your car feels SO hot in the summer. - A/C Avalanche">
              <a:extLst>
                <a:ext uri="{FF2B5EF4-FFF2-40B4-BE49-F238E27FC236}">
                  <a16:creationId xmlns:a16="http://schemas.microsoft.com/office/drawing/2014/main" id="{E4388EFF-3EF1-A6C8-DFB0-915CCA3265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88" t="6379" r="7859" b="8577"/>
            <a:stretch>
              <a:fillRect/>
            </a:stretch>
          </p:blipFill>
          <p:spPr bwMode="auto">
            <a:xfrm>
              <a:off x="7674755" y="3553189"/>
              <a:ext cx="3851888" cy="311884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57FDDEE-79E6-112D-5BFC-B62925927A93}"/>
              </a:ext>
            </a:extLst>
          </p:cNvPr>
          <p:cNvSpPr/>
          <p:nvPr/>
        </p:nvSpPr>
        <p:spPr>
          <a:xfrm>
            <a:off x="158655" y="836627"/>
            <a:ext cx="2971211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ProProblem &amp; Solution</a:t>
            </a:r>
          </a:p>
        </p:txBody>
      </p:sp>
      <p:pic>
        <p:nvPicPr>
          <p:cNvPr id="7" name="Picture 6" descr="A logo of a shield&#10;&#10;AI-generated content may be incorrect.">
            <a:extLst>
              <a:ext uri="{FF2B5EF4-FFF2-40B4-BE49-F238E27FC236}">
                <a16:creationId xmlns:a16="http://schemas.microsoft.com/office/drawing/2014/main" id="{F13F60E0-5305-0E18-B94A-ECB10B90D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55" y="849495"/>
            <a:ext cx="375778" cy="31147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7F8A28-46B3-9F59-8527-49E96588AEE7}"/>
              </a:ext>
            </a:extLst>
          </p:cNvPr>
          <p:cNvCxnSpPr/>
          <p:nvPr/>
        </p:nvCxnSpPr>
        <p:spPr>
          <a:xfrm>
            <a:off x="-5025" y="758138"/>
            <a:ext cx="12207200" cy="72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67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DE6EB-31BA-E3BE-92DB-8749257E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of a graph lightbox">
            <a:extLst>
              <a:ext uri="{FF2B5EF4-FFF2-40B4-BE49-F238E27FC236}">
                <a16:creationId xmlns:a16="http://schemas.microsoft.com/office/drawing/2014/main" id="{AA4735B5-F6CF-3475-5D1F-6F5378A63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89" y="-30208"/>
            <a:ext cx="10691036" cy="299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7816BD2-B511-C77C-88CD-ABC88359F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266597F-2657-9FB3-9AC8-C1E937867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7C19B18-1E3D-7893-515B-726C723BB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BA68C03-A38E-66DC-96FD-172E3EB2D32F}"/>
              </a:ext>
            </a:extLst>
          </p:cNvPr>
          <p:cNvSpPr/>
          <p:nvPr/>
        </p:nvSpPr>
        <p:spPr>
          <a:xfrm>
            <a:off x="580017" y="2463975"/>
            <a:ext cx="2554654" cy="3175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pic>
        <p:nvPicPr>
          <p:cNvPr id="11" name="Picture 10" descr="A logo of a shield&#10;&#10;AI-generated content may be incorrect.">
            <a:extLst>
              <a:ext uri="{FF2B5EF4-FFF2-40B4-BE49-F238E27FC236}">
                <a16:creationId xmlns:a16="http://schemas.microsoft.com/office/drawing/2014/main" id="{8B20AF76-A10D-F356-507C-F07638B5B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4" y="2468373"/>
            <a:ext cx="376266" cy="31960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4D629BC-D3C5-E2B0-E6AC-463536795B10}"/>
              </a:ext>
            </a:extLst>
          </p:cNvPr>
          <p:cNvGrpSpPr/>
          <p:nvPr/>
        </p:nvGrpSpPr>
        <p:grpSpPr>
          <a:xfrm>
            <a:off x="218277" y="2951800"/>
            <a:ext cx="2603424" cy="2972746"/>
            <a:chOff x="5247271" y="1535600"/>
            <a:chExt cx="2603424" cy="297274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1DB6025-F812-EA34-6394-A0550B8D1983}"/>
                </a:ext>
              </a:extLst>
            </p:cNvPr>
            <p:cNvGrpSpPr/>
            <p:nvPr/>
          </p:nvGrpSpPr>
          <p:grpSpPr>
            <a:xfrm>
              <a:off x="5254497" y="1535600"/>
              <a:ext cx="1851376" cy="263990"/>
              <a:chOff x="6858923" y="2083878"/>
              <a:chExt cx="1851376" cy="263990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489667C-EFCC-5806-9FC7-E0A7567DC38A}"/>
                  </a:ext>
                </a:extLst>
              </p:cNvPr>
              <p:cNvSpPr txBox="1"/>
              <p:nvPr/>
            </p:nvSpPr>
            <p:spPr>
              <a:xfrm>
                <a:off x="6858923" y="2086258"/>
                <a:ext cx="325730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⛭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45F4A2F-BA02-8F5B-21FB-A9C61EE3A89A}"/>
                  </a:ext>
                </a:extLst>
              </p:cNvPr>
              <p:cNvSpPr txBox="1"/>
              <p:nvPr/>
            </p:nvSpPr>
            <p:spPr>
              <a:xfrm>
                <a:off x="7263050" y="2083878"/>
                <a:ext cx="144724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Sensors Capture Data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7B20759-C3EA-B20A-2EDC-C028BF6DB9E1}"/>
                </a:ext>
              </a:extLst>
            </p:cNvPr>
            <p:cNvGrpSpPr/>
            <p:nvPr/>
          </p:nvGrpSpPr>
          <p:grpSpPr>
            <a:xfrm>
              <a:off x="5253718" y="1983356"/>
              <a:ext cx="1952125" cy="265710"/>
              <a:chOff x="1149573" y="1776790"/>
              <a:chExt cx="1952125" cy="265710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73776C2-74DD-9ED6-8425-E292D4892457}"/>
                  </a:ext>
                </a:extLst>
              </p:cNvPr>
              <p:cNvSpPr txBox="1"/>
              <p:nvPr/>
            </p:nvSpPr>
            <p:spPr>
              <a:xfrm>
                <a:off x="1149573" y="1776790"/>
                <a:ext cx="37542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✔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D5D19FA-3D26-29B8-EF8C-8D94A18AAC7A}"/>
                  </a:ext>
                </a:extLst>
              </p:cNvPr>
              <p:cNvSpPr txBox="1"/>
              <p:nvPr/>
            </p:nvSpPr>
            <p:spPr>
              <a:xfrm>
                <a:off x="1554480" y="1780890"/>
                <a:ext cx="1547218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Conditions Are Checked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C2400AF-0CA9-5648-1808-55688E3FD200}"/>
                </a:ext>
              </a:extLst>
            </p:cNvPr>
            <p:cNvGrpSpPr/>
            <p:nvPr/>
          </p:nvGrpSpPr>
          <p:grpSpPr>
            <a:xfrm>
              <a:off x="5247271" y="2439312"/>
              <a:ext cx="1705092" cy="263932"/>
              <a:chOff x="818128" y="2467152"/>
              <a:chExt cx="1705092" cy="263932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F87FB79-A381-E332-77DA-A76A0DE7034A}"/>
                  </a:ext>
                </a:extLst>
              </p:cNvPr>
              <p:cNvSpPr txBox="1"/>
              <p:nvPr/>
            </p:nvSpPr>
            <p:spPr>
              <a:xfrm>
                <a:off x="818128" y="2469474"/>
                <a:ext cx="375424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📱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299BC80-9C57-6DF2-34F1-A1C72F391807}"/>
                  </a:ext>
                </a:extLst>
              </p:cNvPr>
              <p:cNvSpPr txBox="1"/>
              <p:nvPr/>
            </p:nvSpPr>
            <p:spPr>
              <a:xfrm>
                <a:off x="1246909" y="2467152"/>
                <a:ext cx="1276311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Owner Notification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738D489-5345-1713-EA6A-8A1626ECE560}"/>
                </a:ext>
              </a:extLst>
            </p:cNvPr>
            <p:cNvGrpSpPr/>
            <p:nvPr/>
          </p:nvGrpSpPr>
          <p:grpSpPr>
            <a:xfrm>
              <a:off x="5254497" y="2891168"/>
              <a:ext cx="1586945" cy="266140"/>
              <a:chOff x="878670" y="3221662"/>
              <a:chExt cx="1586945" cy="266140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214DA62-804D-F64A-FC80-05158BF74AA4}"/>
                  </a:ext>
                </a:extLst>
              </p:cNvPr>
              <p:cNvSpPr txBox="1"/>
              <p:nvPr/>
            </p:nvSpPr>
            <p:spPr>
              <a:xfrm>
                <a:off x="878670" y="3226192"/>
                <a:ext cx="38723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🚪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B56E475-0B1D-1A87-0BA7-942E725E6C98}"/>
                  </a:ext>
                </a:extLst>
              </p:cNvPr>
              <p:cNvSpPr txBox="1"/>
              <p:nvPr/>
            </p:nvSpPr>
            <p:spPr>
              <a:xfrm>
                <a:off x="1312735" y="3221662"/>
                <a:ext cx="1152880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Owner Response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AD0D16D-57FE-C41B-77DE-6978B6330660}"/>
                </a:ext>
              </a:extLst>
            </p:cNvPr>
            <p:cNvGrpSpPr/>
            <p:nvPr/>
          </p:nvGrpSpPr>
          <p:grpSpPr>
            <a:xfrm>
              <a:off x="5247271" y="3343024"/>
              <a:ext cx="2603424" cy="275141"/>
              <a:chOff x="818128" y="3838513"/>
              <a:chExt cx="2603424" cy="275141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84F8793-AFE9-69AB-18AC-C417FC954DCB}"/>
                  </a:ext>
                </a:extLst>
              </p:cNvPr>
              <p:cNvSpPr txBox="1"/>
              <p:nvPr/>
            </p:nvSpPr>
            <p:spPr>
              <a:xfrm>
                <a:off x="818128" y="3852044"/>
                <a:ext cx="375424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1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🚨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2CD0B94-5FC0-3C2E-0917-82AB03CF2F41}"/>
                  </a:ext>
                </a:extLst>
              </p:cNvPr>
              <p:cNvSpPr txBox="1"/>
              <p:nvPr/>
            </p:nvSpPr>
            <p:spPr>
              <a:xfrm>
                <a:off x="1266795" y="3838513"/>
                <a:ext cx="215475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Alarm Activation (After 2 Minutes)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C7C0AD-2167-8A99-D3D5-7CC840631710}"/>
                </a:ext>
              </a:extLst>
            </p:cNvPr>
            <p:cNvSpPr txBox="1"/>
            <p:nvPr/>
          </p:nvSpPr>
          <p:spPr>
            <a:xfrm>
              <a:off x="5314724" y="3783355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☎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11118FA-B113-1C88-BCD3-3E679227B7FF}"/>
                </a:ext>
              </a:extLst>
            </p:cNvPr>
            <p:cNvSpPr txBox="1"/>
            <p:nvPr/>
          </p:nvSpPr>
          <p:spPr>
            <a:xfrm>
              <a:off x="5695938" y="3794880"/>
              <a:ext cx="2076209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Escalation to Emergency Services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2EA393-E626-B208-8DB5-E01490B67389}"/>
                </a:ext>
              </a:extLst>
            </p:cNvPr>
            <p:cNvSpPr txBox="1"/>
            <p:nvPr/>
          </p:nvSpPr>
          <p:spPr>
            <a:xfrm>
              <a:off x="5327192" y="4227058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🛡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4FC722C-28A1-F2C8-89F2-31EBB7BAB30B}"/>
                </a:ext>
              </a:extLst>
            </p:cNvPr>
            <p:cNvSpPr txBox="1"/>
            <p:nvPr/>
          </p:nvSpPr>
          <p:spPr>
            <a:xfrm>
              <a:off x="5695938" y="4246736"/>
              <a:ext cx="1507144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False Alarm Prevention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F819ECE-6457-6EAE-9D24-57B3C8750D1E}"/>
              </a:ext>
            </a:extLst>
          </p:cNvPr>
          <p:cNvGrpSpPr/>
          <p:nvPr/>
        </p:nvGrpSpPr>
        <p:grpSpPr>
          <a:xfrm>
            <a:off x="3308699" y="2487775"/>
            <a:ext cx="8665024" cy="4015829"/>
            <a:chOff x="3622098" y="3060863"/>
            <a:chExt cx="6893502" cy="3143830"/>
          </a:xfrm>
        </p:grpSpPr>
        <p:sp>
          <p:nvSpPr>
            <p:cNvPr id="73" name="AutoShape 2">
              <a:extLst>
                <a:ext uri="{FF2B5EF4-FFF2-40B4-BE49-F238E27FC236}">
                  <a16:creationId xmlns:a16="http://schemas.microsoft.com/office/drawing/2014/main" id="{1FE80210-6EE8-A5E8-C909-BF533D4AF2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8400" y="46482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74" name="Picture 73" descr="A diagram of a process flow">
              <a:extLst>
                <a:ext uri="{FF2B5EF4-FFF2-40B4-BE49-F238E27FC236}">
                  <a16:creationId xmlns:a16="http://schemas.microsoft.com/office/drawing/2014/main" id="{55B2ACD8-28B4-445E-27FB-F74057C06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2098" y="3060863"/>
              <a:ext cx="6893502" cy="314383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2D738F3-7008-1CC0-109B-D92D9CED4F9F}"/>
              </a:ext>
            </a:extLst>
          </p:cNvPr>
          <p:cNvGrpSpPr/>
          <p:nvPr/>
        </p:nvGrpSpPr>
        <p:grpSpPr>
          <a:xfrm>
            <a:off x="3960402" y="43540"/>
            <a:ext cx="3412215" cy="745901"/>
            <a:chOff x="4916886" y="1375233"/>
            <a:chExt cx="3412215" cy="74086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53DB78C-2A15-A2C6-B811-A4270C3C311B}"/>
                </a:ext>
              </a:extLst>
            </p:cNvPr>
            <p:cNvSpPr txBox="1"/>
            <p:nvPr/>
          </p:nvSpPr>
          <p:spPr>
            <a:xfrm>
              <a:off x="5643057" y="1428209"/>
              <a:ext cx="2465356" cy="418128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Smart</a:t>
              </a:r>
              <a:r>
                <a:rPr lang="en-GB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</a:t>
              </a: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GB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Guardian</a:t>
              </a:r>
              <a:endParaRPr lang="en-GB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230C22A-98F0-4A91-1A49-99FC483E401F}"/>
                </a:ext>
              </a:extLst>
            </p:cNvPr>
            <p:cNvSpPr txBox="1"/>
            <p:nvPr/>
          </p:nvSpPr>
          <p:spPr>
            <a:xfrm>
              <a:off x="6131864" y="1768508"/>
              <a:ext cx="2197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Protect Lives with Engineering</a:t>
              </a:r>
            </a:p>
          </p:txBody>
        </p:sp>
        <p:pic>
          <p:nvPicPr>
            <p:cNvPr id="78" name="Picture 77" descr="A logo of a shield&#10;&#10;AI-generated content may be incorrect.">
              <a:extLst>
                <a:ext uri="{FF2B5EF4-FFF2-40B4-BE49-F238E27FC236}">
                  <a16:creationId xmlns:a16="http://schemas.microsoft.com/office/drawing/2014/main" id="{379771FE-E7C9-EC60-8524-65B91DE6F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6886" y="1375233"/>
              <a:ext cx="812565" cy="740868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3FA483-6ED2-7D6D-4372-09A2577680E2}"/>
              </a:ext>
            </a:extLst>
          </p:cNvPr>
          <p:cNvCxnSpPr/>
          <p:nvPr/>
        </p:nvCxnSpPr>
        <p:spPr>
          <a:xfrm>
            <a:off x="-5025" y="758138"/>
            <a:ext cx="12207200" cy="72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D5119E4-E9DC-78A0-64A6-F21A42EE3F22}"/>
              </a:ext>
            </a:extLst>
          </p:cNvPr>
          <p:cNvSpPr/>
          <p:nvPr/>
        </p:nvSpPr>
        <p:spPr>
          <a:xfrm>
            <a:off x="159604" y="842284"/>
            <a:ext cx="2975067" cy="32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Design Process</a:t>
            </a:r>
          </a:p>
        </p:txBody>
      </p:sp>
      <p:pic>
        <p:nvPicPr>
          <p:cNvPr id="15" name="Picture 14" descr="A logo of a shield&#10;&#10;AI-generated content may be incorrect.">
            <a:extLst>
              <a:ext uri="{FF2B5EF4-FFF2-40B4-BE49-F238E27FC236}">
                <a16:creationId xmlns:a16="http://schemas.microsoft.com/office/drawing/2014/main" id="{4AB20283-1DD0-542C-2FC2-F13D4C9EE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4" y="846682"/>
            <a:ext cx="376266" cy="3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7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21DA8-55E2-67F2-F271-8F983F6E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748F18-5EF1-FB00-00E8-F7EB9848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2" r="3234" b="1"/>
          <a:stretch>
            <a:fillRect/>
          </a:stretch>
        </p:blipFill>
        <p:spPr>
          <a:xfrm>
            <a:off x="436708" y="1181992"/>
            <a:ext cx="6591703" cy="55513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1A5F857-EA8C-5DB8-E2B4-126B77C06C03}"/>
              </a:ext>
            </a:extLst>
          </p:cNvPr>
          <p:cNvGrpSpPr/>
          <p:nvPr/>
        </p:nvGrpSpPr>
        <p:grpSpPr>
          <a:xfrm>
            <a:off x="8880001" y="2575074"/>
            <a:ext cx="2984478" cy="4234338"/>
            <a:chOff x="8916577" y="865306"/>
            <a:chExt cx="2984478" cy="42343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15BBF89-E4CF-4BC9-691A-CCF7DD95EF23}"/>
                </a:ext>
              </a:extLst>
            </p:cNvPr>
            <p:cNvGrpSpPr/>
            <p:nvPr/>
          </p:nvGrpSpPr>
          <p:grpSpPr>
            <a:xfrm>
              <a:off x="8916577" y="865306"/>
              <a:ext cx="2984478" cy="1426056"/>
              <a:chOff x="8527264" y="840581"/>
              <a:chExt cx="2984478" cy="142605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A35CECD-6D24-6AF5-0CC5-8D8A0F595471}"/>
                  </a:ext>
                </a:extLst>
              </p:cNvPr>
              <p:cNvSpPr/>
              <p:nvPr/>
            </p:nvSpPr>
            <p:spPr>
              <a:xfrm>
                <a:off x="8907511" y="873555"/>
                <a:ext cx="2604231" cy="27825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Implemented and Tested</a:t>
                </a:r>
              </a:p>
            </p:txBody>
          </p:sp>
          <p:pic>
            <p:nvPicPr>
              <p:cNvPr id="22" name="Picture 21" descr="A logo of a shield&#10;&#10;AI-generated content may be incorrect.">
                <a:extLst>
                  <a:ext uri="{FF2B5EF4-FFF2-40B4-BE49-F238E27FC236}">
                    <a16:creationId xmlns:a16="http://schemas.microsoft.com/office/drawing/2014/main" id="{E25239F6-2C6A-7B05-0873-2D8BC1F953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7264" y="840581"/>
                <a:ext cx="376266" cy="319602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56ADDA-E02B-C9F1-EDCD-8A475B48CF5C}"/>
                  </a:ext>
                </a:extLst>
              </p:cNvPr>
              <p:cNvSpPr txBox="1"/>
              <p:nvPr/>
            </p:nvSpPr>
            <p:spPr>
              <a:xfrm>
                <a:off x="8903530" y="1158641"/>
                <a:ext cx="260821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100" dirty="0"/>
                  <a:t>Motion Detection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100" dirty="0"/>
                  <a:t>LED activation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100" dirty="0"/>
                  <a:t>Buzzer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100" dirty="0"/>
                  <a:t>Fan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100" dirty="0"/>
                  <a:t>WIFI Connection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100" dirty="0"/>
                  <a:t>Temperature sensor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F9EA7D-BE43-6D0F-24E1-09BA84574BC4}"/>
                </a:ext>
              </a:extLst>
            </p:cNvPr>
            <p:cNvGrpSpPr/>
            <p:nvPr/>
          </p:nvGrpSpPr>
          <p:grpSpPr>
            <a:xfrm>
              <a:off x="8916577" y="3157813"/>
              <a:ext cx="2984478" cy="795577"/>
              <a:chOff x="8527264" y="840581"/>
              <a:chExt cx="2984478" cy="79557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86C399A-898D-78C7-0816-AEA766E94CBC}"/>
                  </a:ext>
                </a:extLst>
              </p:cNvPr>
              <p:cNvSpPr/>
              <p:nvPr/>
            </p:nvSpPr>
            <p:spPr>
              <a:xfrm>
                <a:off x="8907511" y="873555"/>
                <a:ext cx="2604231" cy="27825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be implemented</a:t>
                </a:r>
              </a:p>
            </p:txBody>
          </p:sp>
          <p:pic>
            <p:nvPicPr>
              <p:cNvPr id="19" name="Picture 18" descr="A logo of a shield&#10;&#10;AI-generated content may be incorrect.">
                <a:extLst>
                  <a:ext uri="{FF2B5EF4-FFF2-40B4-BE49-F238E27FC236}">
                    <a16:creationId xmlns:a16="http://schemas.microsoft.com/office/drawing/2014/main" id="{CAED44E7-FA45-DF9C-31B9-9532A3CFF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7264" y="840581"/>
                <a:ext cx="376266" cy="319602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4B8E3D-D248-7CE2-E7D5-7BA91296CD1C}"/>
                  </a:ext>
                </a:extLst>
              </p:cNvPr>
              <p:cNvSpPr txBox="1"/>
              <p:nvPr/>
            </p:nvSpPr>
            <p:spPr>
              <a:xfrm>
                <a:off x="8903530" y="1205271"/>
                <a:ext cx="260821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GB" sz="1100" dirty="0"/>
                  <a:t>Weight tracking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GB" sz="1100" dirty="0"/>
                  <a:t>Escalation to emergency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B4D307B-05BF-83F2-5340-0ED34C69C344}"/>
                </a:ext>
              </a:extLst>
            </p:cNvPr>
            <p:cNvGrpSpPr/>
            <p:nvPr/>
          </p:nvGrpSpPr>
          <p:grpSpPr>
            <a:xfrm>
              <a:off x="8916577" y="2350114"/>
              <a:ext cx="2984478" cy="626300"/>
              <a:chOff x="8679664" y="4139369"/>
              <a:chExt cx="3108092" cy="6263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456E405-5DCC-B11E-E2BF-8AD249BFB63E}"/>
                  </a:ext>
                </a:extLst>
              </p:cNvPr>
              <p:cNvSpPr/>
              <p:nvPr/>
            </p:nvSpPr>
            <p:spPr>
              <a:xfrm>
                <a:off x="9059911" y="4172343"/>
                <a:ext cx="2727845" cy="27825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Currently working on</a:t>
                </a:r>
              </a:p>
            </p:txBody>
          </p:sp>
          <p:pic>
            <p:nvPicPr>
              <p:cNvPr id="16" name="Picture 15" descr="A logo of a shield&#10;&#10;AI-generated content may be incorrect.">
                <a:extLst>
                  <a:ext uri="{FF2B5EF4-FFF2-40B4-BE49-F238E27FC236}">
                    <a16:creationId xmlns:a16="http://schemas.microsoft.com/office/drawing/2014/main" id="{9C5606FA-8411-5917-0075-F0F2D5B63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79664" y="4139369"/>
                <a:ext cx="376266" cy="319602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9444B2-5B1E-2A8F-C100-FB4AB73D7A1B}"/>
                  </a:ext>
                </a:extLst>
              </p:cNvPr>
              <p:cNvSpPr txBox="1"/>
              <p:nvPr/>
            </p:nvSpPr>
            <p:spPr>
              <a:xfrm>
                <a:off x="9055930" y="4504059"/>
                <a:ext cx="27318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100" dirty="0"/>
                  <a:t>SMS Notification to owner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177069-5E09-B22E-C417-A94089EE7B5F}"/>
                </a:ext>
              </a:extLst>
            </p:cNvPr>
            <p:cNvSpPr txBox="1"/>
            <p:nvPr/>
          </p:nvSpPr>
          <p:spPr>
            <a:xfrm>
              <a:off x="9292843" y="4838034"/>
              <a:ext cx="26082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endParaRPr lang="en-GB" sz="1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1929EE3-FA31-D449-AB3D-1A290FF6A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9C6627C-8003-47FA-F747-211515631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FA5BA97-D472-47AA-365F-DFB82DA20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ECA6449-6039-BD95-A1C3-143FE7279BFC}"/>
              </a:ext>
            </a:extLst>
          </p:cNvPr>
          <p:cNvSpPr/>
          <p:nvPr/>
        </p:nvSpPr>
        <p:spPr>
          <a:xfrm>
            <a:off x="497821" y="830004"/>
            <a:ext cx="2598801" cy="3196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</a:t>
            </a:r>
          </a:p>
        </p:txBody>
      </p:sp>
      <p:pic>
        <p:nvPicPr>
          <p:cNvPr id="11" name="Picture 10" descr="A logo of a shield&#10;&#10;AI-generated content may be incorrect.">
            <a:extLst>
              <a:ext uri="{FF2B5EF4-FFF2-40B4-BE49-F238E27FC236}">
                <a16:creationId xmlns:a16="http://schemas.microsoft.com/office/drawing/2014/main" id="{14AC8DAF-6F46-3EB4-52F9-EA2DCEB17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55" y="834402"/>
            <a:ext cx="376266" cy="319602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B86A36B4-2807-C7E6-EEF3-695D97FED71D}"/>
              </a:ext>
            </a:extLst>
          </p:cNvPr>
          <p:cNvGrpSpPr/>
          <p:nvPr/>
        </p:nvGrpSpPr>
        <p:grpSpPr>
          <a:xfrm>
            <a:off x="3960402" y="18416"/>
            <a:ext cx="3412215" cy="745901"/>
            <a:chOff x="4916886" y="1375233"/>
            <a:chExt cx="3412215" cy="74086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2FBE4FA-21CC-4757-BF05-7F83A11DE1FA}"/>
                </a:ext>
              </a:extLst>
            </p:cNvPr>
            <p:cNvSpPr txBox="1"/>
            <p:nvPr/>
          </p:nvSpPr>
          <p:spPr>
            <a:xfrm>
              <a:off x="5643057" y="1428209"/>
              <a:ext cx="2465356" cy="418128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Smart</a:t>
              </a:r>
              <a:r>
                <a:rPr lang="en-GB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</a:t>
              </a: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GB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Guardian</a:t>
              </a:r>
              <a:endParaRPr lang="en-GB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BEF6EB5-02F5-C3B5-BB55-3AC6F6FCCA98}"/>
                </a:ext>
              </a:extLst>
            </p:cNvPr>
            <p:cNvSpPr txBox="1"/>
            <p:nvPr/>
          </p:nvSpPr>
          <p:spPr>
            <a:xfrm>
              <a:off x="6131864" y="1768508"/>
              <a:ext cx="2197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Protect Lives with Engineering</a:t>
              </a:r>
            </a:p>
          </p:txBody>
        </p:sp>
        <p:pic>
          <p:nvPicPr>
            <p:cNvPr id="78" name="Picture 77" descr="A logo of a shield&#10;&#10;AI-generated content may be incorrect.">
              <a:extLst>
                <a:ext uri="{FF2B5EF4-FFF2-40B4-BE49-F238E27FC236}">
                  <a16:creationId xmlns:a16="http://schemas.microsoft.com/office/drawing/2014/main" id="{CD0DF4B1-D673-80EC-D234-9DCD30161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6886" y="1375233"/>
              <a:ext cx="812565" cy="740868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EC71D6-369D-7DB4-02F5-781740897EFC}"/>
              </a:ext>
            </a:extLst>
          </p:cNvPr>
          <p:cNvCxnSpPr/>
          <p:nvPr/>
        </p:nvCxnSpPr>
        <p:spPr>
          <a:xfrm>
            <a:off x="-5025" y="753114"/>
            <a:ext cx="12207200" cy="72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532691F-88D5-FB02-EA44-83EB0E0F52CF}"/>
              </a:ext>
            </a:extLst>
          </p:cNvPr>
          <p:cNvSpPr/>
          <p:nvPr/>
        </p:nvSpPr>
        <p:spPr>
          <a:xfrm>
            <a:off x="9225046" y="1181992"/>
            <a:ext cx="2604231" cy="2782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 Used</a:t>
            </a:r>
          </a:p>
        </p:txBody>
      </p:sp>
      <p:pic>
        <p:nvPicPr>
          <p:cNvPr id="25" name="Picture 24" descr="A logo of a shield&#10;&#10;AI-generated content may be incorrect.">
            <a:extLst>
              <a:ext uri="{FF2B5EF4-FFF2-40B4-BE49-F238E27FC236}">
                <a16:creationId xmlns:a16="http://schemas.microsoft.com/office/drawing/2014/main" id="{A2B3D7A2-1D9A-BC72-E47B-416A30E6C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409" y="1140641"/>
            <a:ext cx="376266" cy="3196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BECA088-B68D-85D0-AB1A-4B2F1FD9001E}"/>
              </a:ext>
            </a:extLst>
          </p:cNvPr>
          <p:cNvSpPr txBox="1"/>
          <p:nvPr/>
        </p:nvSpPr>
        <p:spPr>
          <a:xfrm>
            <a:off x="9181083" y="1467078"/>
            <a:ext cx="26082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Arduino Uno </a:t>
            </a:r>
            <a:r>
              <a:rPr lang="en-GB" sz="1100" dirty="0" err="1"/>
              <a:t>R4</a:t>
            </a:r>
            <a:r>
              <a:rPr lang="en-GB" sz="1100" dirty="0"/>
              <a:t> WIFI 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 err="1"/>
              <a:t>DHT11</a:t>
            </a:r>
            <a:r>
              <a:rPr lang="en-GB" sz="1100" dirty="0"/>
              <a:t> Temperature Sensor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Fan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PIR motion sensor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Buzzer</a:t>
            </a:r>
          </a:p>
        </p:txBody>
      </p:sp>
    </p:spTree>
    <p:extLst>
      <p:ext uri="{BB962C8B-B14F-4D97-AF65-F5344CB8AC3E}">
        <p14:creationId xmlns:p14="http://schemas.microsoft.com/office/powerpoint/2010/main" val="49231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9A819-995D-1B53-509A-281DEE59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065CC8A-BC00-AA36-24DB-5814EC3F9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99" y="1053545"/>
            <a:ext cx="11498658" cy="571714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EC9FA5A-CB23-8732-C22F-C3D03169F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8D29C34-5B9F-CA82-A9F6-743310B77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58B1ED8-A5A6-5894-7FEC-D27E20614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317BDC1-B0C5-B71F-1308-7440144AB6E5}"/>
              </a:ext>
            </a:extLst>
          </p:cNvPr>
          <p:cNvSpPr/>
          <p:nvPr/>
        </p:nvSpPr>
        <p:spPr>
          <a:xfrm>
            <a:off x="558762" y="789440"/>
            <a:ext cx="2604231" cy="2311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</a:p>
        </p:txBody>
      </p:sp>
      <p:pic>
        <p:nvPicPr>
          <p:cNvPr id="11" name="Picture 10" descr="A logo of a shield&#10;&#10;AI-generated content may be incorrect.">
            <a:extLst>
              <a:ext uri="{FF2B5EF4-FFF2-40B4-BE49-F238E27FC236}">
                <a16:creationId xmlns:a16="http://schemas.microsoft.com/office/drawing/2014/main" id="{B7ADD887-2E71-3566-5197-387F850C8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15" y="756466"/>
            <a:ext cx="376266" cy="319602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D5D3816D-284A-4071-72CE-3D7EA433C477}"/>
              </a:ext>
            </a:extLst>
          </p:cNvPr>
          <p:cNvGrpSpPr/>
          <p:nvPr/>
        </p:nvGrpSpPr>
        <p:grpSpPr>
          <a:xfrm>
            <a:off x="3960402" y="43540"/>
            <a:ext cx="3412215" cy="745901"/>
            <a:chOff x="4916886" y="1375233"/>
            <a:chExt cx="3412215" cy="74086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4844C5D-3DF3-5B91-9120-830DC21D3875}"/>
                </a:ext>
              </a:extLst>
            </p:cNvPr>
            <p:cNvSpPr txBox="1"/>
            <p:nvPr/>
          </p:nvSpPr>
          <p:spPr>
            <a:xfrm>
              <a:off x="5643057" y="1428209"/>
              <a:ext cx="2465356" cy="418128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Smart</a:t>
              </a:r>
              <a:r>
                <a:rPr lang="en-GB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</a:t>
              </a: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GB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Guardian</a:t>
              </a:r>
              <a:endParaRPr lang="en-GB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84BF838-7BAB-131E-FD7A-2A76A4BDDA93}"/>
                </a:ext>
              </a:extLst>
            </p:cNvPr>
            <p:cNvSpPr txBox="1"/>
            <p:nvPr/>
          </p:nvSpPr>
          <p:spPr>
            <a:xfrm>
              <a:off x="6131864" y="1768508"/>
              <a:ext cx="2197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Protect Lives with Engineering</a:t>
              </a:r>
            </a:p>
          </p:txBody>
        </p:sp>
        <p:pic>
          <p:nvPicPr>
            <p:cNvPr id="78" name="Picture 77" descr="A logo of a shield&#10;&#10;AI-generated content may be incorrect.">
              <a:extLst>
                <a:ext uri="{FF2B5EF4-FFF2-40B4-BE49-F238E27FC236}">
                  <a16:creationId xmlns:a16="http://schemas.microsoft.com/office/drawing/2014/main" id="{D8CD3F5E-01E3-E476-F6D1-8A81B50EE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6886" y="1375233"/>
              <a:ext cx="812565" cy="740868"/>
            </a:xfrm>
            <a:prstGeom prst="rect">
              <a:avLst/>
            </a:prstGeom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7C71B8-30D1-4639-68AE-086E8DED9A88}"/>
              </a:ext>
            </a:extLst>
          </p:cNvPr>
          <p:cNvCxnSpPr/>
          <p:nvPr/>
        </p:nvCxnSpPr>
        <p:spPr>
          <a:xfrm>
            <a:off x="-5025" y="748090"/>
            <a:ext cx="12207200" cy="72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46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0A61B-9E54-1721-406C-45E33955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CE2C33AB-257B-2D46-EE34-B8DC8BC16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E339E94-0232-33D1-99A0-3F31FF2A9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8D3F049-CBE3-38B4-70FC-2EF028495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82B291F-7408-CC95-BDFD-6DFEB46F0087}"/>
              </a:ext>
            </a:extLst>
          </p:cNvPr>
          <p:cNvSpPr txBox="1"/>
          <p:nvPr/>
        </p:nvSpPr>
        <p:spPr>
          <a:xfrm>
            <a:off x="6294269" y="2664420"/>
            <a:ext cx="5809062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Intelligent </a:t>
            </a: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systems 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Predictive Risk Analysis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Automated Emergency Response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D2866F-95C0-6369-B8A7-7BB041E2DF4E}"/>
              </a:ext>
            </a:extLst>
          </p:cNvPr>
          <p:cNvSpPr/>
          <p:nvPr/>
        </p:nvSpPr>
        <p:spPr>
          <a:xfrm>
            <a:off x="554433" y="2332228"/>
            <a:ext cx="2568407" cy="3026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Challenges</a:t>
            </a:r>
          </a:p>
        </p:txBody>
      </p:sp>
      <p:pic>
        <p:nvPicPr>
          <p:cNvPr id="13" name="Picture 12" descr="A logo of a shield&#10;&#10;AI-generated content may be incorrect.">
            <a:extLst>
              <a:ext uri="{FF2B5EF4-FFF2-40B4-BE49-F238E27FC236}">
                <a16:creationId xmlns:a16="http://schemas.microsoft.com/office/drawing/2014/main" id="{BF3564FF-B6BB-EB3A-34F3-B3C69321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31" y="2315320"/>
            <a:ext cx="376266" cy="31960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05086D9-AA58-3516-2269-9525DEA94133}"/>
              </a:ext>
            </a:extLst>
          </p:cNvPr>
          <p:cNvSpPr/>
          <p:nvPr/>
        </p:nvSpPr>
        <p:spPr>
          <a:xfrm>
            <a:off x="6273998" y="2322707"/>
            <a:ext cx="2642087" cy="3026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Improvements</a:t>
            </a:r>
          </a:p>
        </p:txBody>
      </p:sp>
      <p:pic>
        <p:nvPicPr>
          <p:cNvPr id="15" name="Picture 14" descr="A logo of a shield&#10;&#10;AI-generated content may be incorrect.">
            <a:extLst>
              <a:ext uri="{FF2B5EF4-FFF2-40B4-BE49-F238E27FC236}">
                <a16:creationId xmlns:a16="http://schemas.microsoft.com/office/drawing/2014/main" id="{66F634C1-E2F3-1B49-5C61-730CE6D35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003" y="2323774"/>
            <a:ext cx="376266" cy="3196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5DDDF8-D504-0CE7-9CE7-31FA8D6B5DC0}"/>
              </a:ext>
            </a:extLst>
          </p:cNvPr>
          <p:cNvSpPr txBox="1"/>
          <p:nvPr/>
        </p:nvSpPr>
        <p:spPr>
          <a:xfrm>
            <a:off x="594397" y="2673372"/>
            <a:ext cx="483854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False Triggers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Delayed Alerts due to the lack of signal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Power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temperature in cabin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Integration with </a:t>
            </a: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systems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70CF18-DEA7-BED7-D3F1-8923BB844DCD}"/>
              </a:ext>
            </a:extLst>
          </p:cNvPr>
          <p:cNvGrpSpPr/>
          <p:nvPr/>
        </p:nvGrpSpPr>
        <p:grpSpPr>
          <a:xfrm>
            <a:off x="3960402" y="43540"/>
            <a:ext cx="3412215" cy="745901"/>
            <a:chOff x="4916886" y="1375233"/>
            <a:chExt cx="3412215" cy="74086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30B6E4-3566-AE92-6770-EEA0D6DBCADA}"/>
                </a:ext>
              </a:extLst>
            </p:cNvPr>
            <p:cNvSpPr txBox="1"/>
            <p:nvPr/>
          </p:nvSpPr>
          <p:spPr>
            <a:xfrm>
              <a:off x="5643057" y="1428209"/>
              <a:ext cx="2465356" cy="418128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Smart</a:t>
              </a:r>
              <a:r>
                <a:rPr lang="en-GB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</a:t>
              </a: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GB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Guardian</a:t>
              </a:r>
              <a:endParaRPr lang="en-GB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61C63C7-41B2-7F2B-80F8-085FD46DE562}"/>
                </a:ext>
              </a:extLst>
            </p:cNvPr>
            <p:cNvSpPr txBox="1"/>
            <p:nvPr/>
          </p:nvSpPr>
          <p:spPr>
            <a:xfrm>
              <a:off x="6131864" y="1768508"/>
              <a:ext cx="2197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Protect Lives with Engineering</a:t>
              </a:r>
            </a:p>
          </p:txBody>
        </p:sp>
        <p:pic>
          <p:nvPicPr>
            <p:cNvPr id="20" name="Picture 19" descr="A logo of a shield&#10;&#10;AI-generated content may be incorrect.">
              <a:extLst>
                <a:ext uri="{FF2B5EF4-FFF2-40B4-BE49-F238E27FC236}">
                  <a16:creationId xmlns:a16="http://schemas.microsoft.com/office/drawing/2014/main" id="{E8A85F93-1DED-F704-E9B3-D308DB1FA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6886" y="1375233"/>
              <a:ext cx="812565" cy="740868"/>
            </a:xfrm>
            <a:prstGeom prst="rect">
              <a:avLst/>
            </a:prstGeom>
          </p:spPr>
        </p:pic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FB00B38-3DD1-FB5D-3B67-E5A36ABF5A9A}"/>
              </a:ext>
            </a:extLst>
          </p:cNvPr>
          <p:cNvCxnSpPr/>
          <p:nvPr/>
        </p:nvCxnSpPr>
        <p:spPr>
          <a:xfrm>
            <a:off x="-5025" y="783260"/>
            <a:ext cx="12207200" cy="72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E401CFD0-3AD9-29A2-7AA5-ACAA37BC9822}"/>
              </a:ext>
            </a:extLst>
          </p:cNvPr>
          <p:cNvGrpSpPr/>
          <p:nvPr/>
        </p:nvGrpSpPr>
        <p:grpSpPr>
          <a:xfrm>
            <a:off x="505209" y="950028"/>
            <a:ext cx="4557242" cy="1217290"/>
            <a:chOff x="658950" y="4891202"/>
            <a:chExt cx="4801052" cy="10336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F70DE0-8AE6-2FAC-8D3C-755DB21C8A29}"/>
                </a:ext>
              </a:extLst>
            </p:cNvPr>
            <p:cNvSpPr/>
            <p:nvPr/>
          </p:nvSpPr>
          <p:spPr>
            <a:xfrm>
              <a:off x="752910" y="4891202"/>
              <a:ext cx="2501473" cy="3080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Installation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91869D-329F-6160-8FCC-42A51B3B12F7}"/>
                </a:ext>
              </a:extLst>
            </p:cNvPr>
            <p:cNvSpPr txBox="1"/>
            <p:nvPr/>
          </p:nvSpPr>
          <p:spPr>
            <a:xfrm>
              <a:off x="658950" y="5271487"/>
              <a:ext cx="4801052" cy="653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PIR And TMP36 sensor on the roof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Microcontroller/GSM module behind the dashboard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Connected to the car’s 12 V battery system, which will recharge while the car runs with a backup lithium battery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E9A1B0-C2EC-9295-DD60-5321AF499646}"/>
              </a:ext>
            </a:extLst>
          </p:cNvPr>
          <p:cNvGrpSpPr/>
          <p:nvPr/>
        </p:nvGrpSpPr>
        <p:grpSpPr>
          <a:xfrm>
            <a:off x="5777270" y="940504"/>
            <a:ext cx="2971211" cy="324342"/>
            <a:chOff x="218270" y="1925560"/>
            <a:chExt cx="2971211" cy="3567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FCC247-1946-168E-0D93-B547E93D7126}"/>
                </a:ext>
              </a:extLst>
            </p:cNvPr>
            <p:cNvSpPr/>
            <p:nvPr/>
          </p:nvSpPr>
          <p:spPr>
            <a:xfrm>
              <a:off x="594048" y="1925560"/>
              <a:ext cx="2595433" cy="3356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Cost</a:t>
              </a:r>
            </a:p>
          </p:txBody>
        </p:sp>
        <p:pic>
          <p:nvPicPr>
            <p:cNvPr id="23" name="Picture 22" descr="A logo of a shield&#10;&#10;AI-generated content may be incorrect.">
              <a:extLst>
                <a:ext uri="{FF2B5EF4-FFF2-40B4-BE49-F238E27FC236}">
                  <a16:creationId xmlns:a16="http://schemas.microsoft.com/office/drawing/2014/main" id="{C872DBAA-388F-CA80-20A5-CA5ED73F1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270" y="1939715"/>
              <a:ext cx="375778" cy="342621"/>
            </a:xfrm>
            <a:prstGeom prst="rect">
              <a:avLst/>
            </a:prstGeom>
          </p:spPr>
        </p:pic>
      </p:grpSp>
      <p:sp>
        <p:nvSpPr>
          <p:cNvPr id="3" name="TextBox 10">
            <a:extLst>
              <a:ext uri="{FF2B5EF4-FFF2-40B4-BE49-F238E27FC236}">
                <a16:creationId xmlns:a16="http://schemas.microsoft.com/office/drawing/2014/main" id="{4924645B-604D-602D-CC89-29DB69DB339A}"/>
              </a:ext>
            </a:extLst>
          </p:cNvPr>
          <p:cNvSpPr txBox="1"/>
          <p:nvPr/>
        </p:nvSpPr>
        <p:spPr>
          <a:xfrm>
            <a:off x="1519843" y="5890439"/>
            <a:ext cx="9152314" cy="677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2"/>
            </a:solidFill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 b="1" dirty="0">
              <a:solidFill>
                <a:schemeClr val="tx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Smart</a:t>
            </a:r>
            <a:r>
              <a:rPr lang="en-GB" sz="1400" b="1" dirty="0">
                <a:solidFill>
                  <a:schemeClr val="accent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Heat</a:t>
            </a:r>
            <a:r>
              <a:rPr lang="en-GB" sz="14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Guardian</a:t>
            </a:r>
            <a:r>
              <a:rPr lang="en-GB" sz="1400" b="1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GB" sz="1400" b="1" dirty="0">
                <a:solidFill>
                  <a:schemeClr val="tx1"/>
                </a:solidFill>
              </a:rPr>
              <a:t>Smarter Safety for What Matters Most</a:t>
            </a:r>
            <a:endParaRPr lang="en-US" sz="1400" b="1" dirty="0">
              <a:solidFill>
                <a:schemeClr val="tx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DAC410-46D6-B1DA-BA5C-5FAD71E39C5E}"/>
              </a:ext>
            </a:extLst>
          </p:cNvPr>
          <p:cNvSpPr txBox="1"/>
          <p:nvPr/>
        </p:nvSpPr>
        <p:spPr>
          <a:xfrm>
            <a:off x="6153048" y="1303700"/>
            <a:ext cx="49984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 Uno </a:t>
            </a:r>
            <a:r>
              <a:rPr lang="en-GB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R4</a:t>
            </a: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Wifi</a:t>
            </a: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board costs £30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installation cost will be nominal as it can be inbuilt or a plug-in with minimal configuration.</a:t>
            </a:r>
          </a:p>
        </p:txBody>
      </p:sp>
      <p:pic>
        <p:nvPicPr>
          <p:cNvPr id="11" name="Picture 10" descr="A logo of a shield&#10;&#10;AI-generated content may be incorrect.">
            <a:extLst>
              <a:ext uri="{FF2B5EF4-FFF2-40B4-BE49-F238E27FC236}">
                <a16:creationId xmlns:a16="http://schemas.microsoft.com/office/drawing/2014/main" id="{21F51FE7-F968-66AF-6ED9-80D2D607C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67" y="993188"/>
            <a:ext cx="376266" cy="319602"/>
          </a:xfrm>
          <a:prstGeom prst="rect">
            <a:avLst/>
          </a:prstGeom>
        </p:spPr>
      </p:pic>
      <p:pic>
        <p:nvPicPr>
          <p:cNvPr id="26" name="Picture 25" descr="A logo of a shield&#10;&#10;AI-generated content may be incorrect.">
            <a:extLst>
              <a:ext uri="{FF2B5EF4-FFF2-40B4-BE49-F238E27FC236}">
                <a16:creationId xmlns:a16="http://schemas.microsoft.com/office/drawing/2014/main" id="{EA56841E-4A98-AA60-9011-0248F34DF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28" y="4173079"/>
            <a:ext cx="376266" cy="319601"/>
          </a:xfrm>
          <a:prstGeom prst="rect">
            <a:avLst/>
          </a:prstGeom>
        </p:spPr>
      </p:pic>
      <p:sp>
        <p:nvSpPr>
          <p:cNvPr id="27" name="TextBox 46">
            <a:extLst>
              <a:ext uri="{FF2B5EF4-FFF2-40B4-BE49-F238E27FC236}">
                <a16:creationId xmlns:a16="http://schemas.microsoft.com/office/drawing/2014/main" id="{90622514-C9FF-AE2B-7177-FD2AC6F79A01}"/>
              </a:ext>
            </a:extLst>
          </p:cNvPr>
          <p:cNvSpPr txBox="1"/>
          <p:nvPr/>
        </p:nvSpPr>
        <p:spPr>
          <a:xfrm>
            <a:off x="699193" y="4560035"/>
            <a:ext cx="11079941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 mode is only available in new and expensive electric vehicles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takes measures to lower the cabin temperature using 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solution contacts the owner and escalates to emergency services.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D5DBA9-E373-E972-509E-E858B12DAA2E}"/>
              </a:ext>
            </a:extLst>
          </p:cNvPr>
          <p:cNvSpPr/>
          <p:nvPr/>
        </p:nvSpPr>
        <p:spPr>
          <a:xfrm>
            <a:off x="699193" y="4150449"/>
            <a:ext cx="2568407" cy="3026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Differentiators</a:t>
            </a:r>
          </a:p>
        </p:txBody>
      </p:sp>
    </p:spTree>
    <p:extLst>
      <p:ext uri="{BB962C8B-B14F-4D97-AF65-F5344CB8AC3E}">
        <p14:creationId xmlns:p14="http://schemas.microsoft.com/office/powerpoint/2010/main" val="3573900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acfe5e-7f2a-455a-9d85-ecf93371f601}" enabled="0" method="" siteId="{e6acfe5e-7f2a-455a-9d85-ecf93371f6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6284</TotalTime>
  <Words>441</Words>
  <Application>Microsoft Office PowerPoint</Application>
  <PresentationFormat>Widescreen</PresentationFormat>
  <Paragraphs>94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Overpass Medium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Cavitha Balamurugesan</dc:creator>
  <cp:lastModifiedBy>Cavitha Balamurugesan</cp:lastModifiedBy>
  <cp:revision>7</cp:revision>
  <dcterms:created xsi:type="dcterms:W3CDTF">2026-03-08T18:33:58Z</dcterms:created>
  <dcterms:modified xsi:type="dcterms:W3CDTF">2026-04-29T17:23:50Z</dcterms:modified>
</cp:coreProperties>
</file>